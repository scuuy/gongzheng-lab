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大家好，介绍工证 Lab。我们做的是 CAD 和 CAE 智能体交付的工程验证与回归测试。当前原型把参数源、原生几何、网格、求解输入和报告放到同一份可重放的验收记录中。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工业智能体会生成多种文件，风险也会跨文件传播。一个典型例子是把载荷从负一百牛变成正一百牛，线弹性模型的最大位移模长仍可能一致。因此，求解成功和一个看起来合理的数字不足以判断工况正确。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工作流分成四个责任环节。模型只提交有限的参数提案；执行器重建原生工程；验收器根据独立要求重新打开和求解；最后由工程师结合检查覆盖决定是否放行。验收要求不交给候选修改。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这个案例在二十四毫米宽度上看起来正常。缺陷是孔位被写成四点八毫米常数，宽度变成三十二和四十毫米后，要求分别是六点四和八毫米，原生圆柱面的测量暴露了失效。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我们构造一个正常对照和五种有明确工程意义的缺陷。六组结果与设计预期一致，逐个保留原生重算文件。这里不报告总体检出率，也不声称这些是高难模型评测。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为了确认 AI 接口真实可用，我们通过现有网关调用 gpt-6-astra，分别生成两份参数提案，再由工具链重建和独立验收。两例均为八项通过。模型名称是网关返回标识，底层身份未独立认证，费用未知。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工具链基于 CadQuery、Gmsh 和 CalculiX。Web 端单次任务在关闭网络的容器内执行，保留 STEP、网格、求解输入、原生结果和日志。网格一致性当前是包络和体积粗检查，能力边界在文档中明确列出。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开源交付包括代码、输入契约、回归测试、贡献指南和第三方许可说明。我们计划优先吸收可复现的工程反例，而不是只收集成功截图。当前是新项目，没有虚构社区规模或企业合作。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最先服务的是开发工业 Agent 的研发和测试团队。先把一种受限几何模型和公开工况的接口做扎实，再增加适配器和批量回归，后续探索团队部署服务。这些属于路线图，尚未验证商业收益。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当前原型可以运行、重算和审查，材料中也明确列出尚未覆盖的边界。希望让工业智能体每一次工程修改都能留下可检查、可重放的证据。谢谢。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086F78"/>
                </a:solidFill>
                <a:latin typeface="PingFang SC"/>
              </a:defRPr>
            </a:pPr>
            <a:r>
              <a:t>工证 Lab · AI＋工业软件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81328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5200" b="1">
                <a:solidFill>
                  <a:srgbClr val="163348"/>
                </a:solidFill>
                <a:latin typeface="PingFang SC"/>
              </a:defRPr>
            </a:pPr>
            <a:r>
              <a:t>工证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78608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500" b="0">
                <a:solidFill>
                  <a:srgbClr val="163348"/>
                </a:solidFill>
                <a:latin typeface="PingFang SC"/>
              </a:defRPr>
            </a:pPr>
            <a:r>
              <a:t>面向 CAD/CAE 智能体的</a:t>
            </a:r>
          </a:p>
          <a:p>
            <a:pPr>
              <a:spcAft>
                <a:spcPts val="700"/>
              </a:spcAft>
              <a:defRPr sz="2500" b="0">
                <a:solidFill>
                  <a:srgbClr val="163348"/>
                </a:solidFill>
                <a:latin typeface="PingFang SC"/>
              </a:defRPr>
            </a:pPr>
            <a:r>
              <a:t>工程验证与回归测试平台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70832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7C8B"/>
                </a:solidFill>
                <a:latin typeface="PingFang SC"/>
              </a:defRPr>
            </a:pPr>
            <a:r>
              <a:t>AI＋工业软件 · 开源研究原型 0.1.0</a:t>
            </a:r>
          </a:p>
        </p:txBody>
      </p:sp>
      <p:pic>
        <p:nvPicPr>
          <p:cNvPr id="6" name="Picture 5" descr="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65960"/>
            <a:ext cx="566928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778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086F78"/>
                </a:solidFill>
                <a:latin typeface="PingFang SC"/>
              </a:defRPr>
            </a:pPr>
            <a:r>
              <a:t>PARAMETERS → STEP → MSH → INP →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3737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OSCHINA 2026 · 合成工程 / 研究原型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086F78"/>
                </a:solidFill>
                <a:latin typeface="PingFang SC"/>
              </a:defRPr>
            </a:pPr>
            <a:r>
              <a:t>工证 Lab · AI＋工业软件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3348"/>
                </a:solidFill>
                <a:latin typeface="PingFang SC"/>
              </a:defRPr>
            </a:pPr>
            <a:r>
              <a:t>工业 Agent 交付中的跨文件失配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7393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63348"/>
                </a:solidFill>
                <a:latin typeface="PingFang SC"/>
              </a:defRPr>
            </a:pPr>
            <a:r>
              <a:t>一份可打开的工程，仍可能包含失配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50592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7C8B"/>
                </a:solidFill>
                <a:latin typeface="PingFang SC"/>
              </a:defRPr>
            </a:pPr>
            <a:r>
              <a:t>几何更新、网格未更新；默认尺寸正确、参数变型失效；载荷反向、位移模长仍然接近。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4480560" cy="13716"/>
          </a:xfrm>
          <a:prstGeom prst="rect">
            <a:avLst/>
          </a:prstGeom>
          <a:solidFill>
            <a:srgbClr val="CB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PingFang SC"/>
              </a:defRPr>
            </a:pPr>
            <a:r>
              <a:t>公开工况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6200" b="1">
                <a:solidFill>
                  <a:srgbClr val="086F78"/>
                </a:solidFill>
                <a:latin typeface="PingFang SC"/>
              </a:defRPr>
            </a:pPr>
            <a:r>
              <a:t>−100 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383280"/>
            <a:ext cx="4480560" cy="13716"/>
          </a:xfrm>
          <a:prstGeom prst="rect">
            <a:avLst/>
          </a:prstGeom>
          <a:solidFill>
            <a:srgbClr val="CB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56616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PingFang SC"/>
              </a:defRPr>
            </a:pPr>
            <a:r>
              <a:t>缺陷输入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6200" b="1">
                <a:solidFill>
                  <a:srgbClr val="A74D38"/>
                </a:solidFill>
                <a:latin typeface="PingFang SC"/>
              </a:defRPr>
            </a:pPr>
            <a:r>
              <a:t>+100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163348"/>
                </a:solidFill>
                <a:latin typeface="PingFang SC"/>
              </a:defRPr>
            </a:pPr>
            <a:r>
              <a:t>线弹性下位移模长可能相同，载荷语义仍需单独验证。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3737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OSCHINA 2026 · 合成工程 / 研究原型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086F78"/>
                </a:solidFill>
                <a:latin typeface="PingFang SC"/>
              </a:defRPr>
            </a:pPr>
            <a:r>
              <a:t>工证 Lab · AI＋工业软件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3348"/>
                </a:solidFill>
                <a:latin typeface="PingFang SC"/>
              </a:defRPr>
            </a:pPr>
            <a:r>
              <a:t>从模型提案到工程师放行的验证流程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7393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63348"/>
                </a:solidFill>
                <a:latin typeface="PingFang SC"/>
              </a:defRPr>
            </a:pPr>
            <a:r>
              <a:t>独立验收要求贯穿每次重建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50592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7C8B"/>
                </a:solidFill>
                <a:latin typeface="PingFang SC"/>
              </a:defRPr>
            </a:pPr>
            <a:r>
              <a:t>模型负责提出修改；可信工具负责执行；验收器重新测量；工程师根据覆盖范围决定发布。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566160"/>
            <a:ext cx="2468880" cy="13716"/>
          </a:xfrm>
          <a:prstGeom prst="rect">
            <a:avLst/>
          </a:prstGeom>
          <a:solidFill>
            <a:srgbClr val="08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086F78"/>
                </a:solidFill>
                <a:latin typeface="PingFang SC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3348"/>
                </a:solidFill>
                <a:latin typeface="PingFang SC"/>
              </a:defRPr>
            </a:pPr>
            <a:r>
              <a:t>提出修改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07C8B"/>
                </a:solidFill>
                <a:latin typeface="PingFang SC"/>
              </a:defRPr>
            </a:pPr>
            <a:r>
              <a:t>有限参数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566160"/>
            <a:ext cx="2468880" cy="13716"/>
          </a:xfrm>
          <a:prstGeom prst="rect">
            <a:avLst/>
          </a:prstGeom>
          <a:solidFill>
            <a:srgbClr val="08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749039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086F78"/>
                </a:solidFill>
                <a:latin typeface="PingFang S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38912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3348"/>
                </a:solidFill>
                <a:latin typeface="PingFang SC"/>
              </a:defRPr>
            </a:pPr>
            <a:r>
              <a:t>执行工程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292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07C8B"/>
                </a:solidFill>
                <a:latin typeface="PingFang SC"/>
              </a:defRPr>
            </a:pPr>
            <a:r>
              <a:t>可信原生适配器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59" y="3566160"/>
            <a:ext cx="2468880" cy="13716"/>
          </a:xfrm>
          <a:prstGeom prst="rect">
            <a:avLst/>
          </a:prstGeom>
          <a:solidFill>
            <a:srgbClr val="08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3749039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086F78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38912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3348"/>
                </a:solidFill>
                <a:latin typeface="PingFang SC"/>
              </a:defRPr>
            </a:pPr>
            <a:r>
              <a:t>独立验收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50292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07C8B"/>
                </a:solidFill>
                <a:latin typeface="PingFang SC"/>
              </a:defRPr>
            </a:pPr>
            <a:r>
              <a:t>重开 · 变型 · 重算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19" y="3566160"/>
            <a:ext cx="2468880" cy="13716"/>
          </a:xfrm>
          <a:prstGeom prst="rect">
            <a:avLst/>
          </a:prstGeom>
          <a:solidFill>
            <a:srgbClr val="08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3749039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086F78"/>
                </a:solidFill>
                <a:latin typeface="PingFang SC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438912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3348"/>
                </a:solidFill>
                <a:latin typeface="PingFang SC"/>
              </a:defRPr>
            </a:pPr>
            <a:r>
              <a:t>审查发布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50292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07C8B"/>
                </a:solidFill>
                <a:latin typeface="PingFang SC"/>
              </a:defRPr>
            </a:pPr>
            <a:r>
              <a:t>工程师确认范围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607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63348"/>
                </a:solidFill>
                <a:latin typeface="PingFang SC"/>
              </a:defRPr>
            </a:pPr>
            <a:r>
              <a:t>可信要求独立保存，模型提案不能降低验收门槛。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3737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OSCHINA 2026 · 合成工程 / 研究原型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086F78"/>
                </a:solidFill>
                <a:latin typeface="PingFang SC"/>
              </a:defRPr>
            </a:pPr>
            <a:r>
              <a:t>工证 Lab · AI＋工业软件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3348"/>
                </a:solidFill>
                <a:latin typeface="PingFang SC"/>
              </a:defRPr>
            </a:pPr>
            <a:r>
              <a:t>参数变型失效的原生验收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7393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63348"/>
                </a:solidFill>
                <a:latin typeface="PingFang SC"/>
              </a:defRPr>
            </a:pPr>
            <a:r>
              <a:t>默认尺寸通过，变型检查发现固定孔位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50592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7C8B"/>
                </a:solidFill>
                <a:latin typeface="PingFang SC"/>
              </a:defRPr>
            </a:pPr>
            <a:r>
              <a:t>宽度 24 / 32 / 40 mm；所需孔位 Y = 4.8 / 6.4 / 8.0 mm；缺陷工程始终为 4.8 mm。</a:t>
            </a:r>
          </a:p>
        </p:txBody>
      </p:sp>
      <p:pic>
        <p:nvPicPr>
          <p:cNvPr id="6" name="Picture 5" descr="product-var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3017520"/>
            <a:ext cx="8229600" cy="47320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43737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OSCHINA 2026 · 合成工程 / 研究原型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086F78"/>
                </a:solidFill>
                <a:latin typeface="PingFang SC"/>
              </a:defRPr>
            </a:pPr>
            <a:r>
              <a:t>工证 Lab · AI＋工业软件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3348"/>
                </a:solidFill>
                <a:latin typeface="PingFang SC"/>
              </a:defRPr>
            </a:pPr>
            <a:r>
              <a:t>六组可重放案例的回归结果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7393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63348"/>
                </a:solidFill>
                <a:latin typeface="PingFang SC"/>
              </a:defRPr>
            </a:pPr>
            <a:r>
              <a:t>一个正常对照，五种工程失配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50592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7C8B"/>
                </a:solidFill>
                <a:latin typeface="PingFang SC"/>
              </a:defRPr>
            </a:pPr>
            <a:r>
              <a:t>六组设计案例均符合预期；结果只说明本组回归成立，不推导总体检出率。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3200400"/>
          <a:ext cx="10607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607C8B"/>
                          </a:solidFill>
                          <a:latin typeface="PingFang SC"/>
                        </a:defRPr>
                      </a:pPr>
                      <a:r>
                        <a:t>设计案例</a:t>
                      </a:r>
                    </a:p>
                  </a:txBody>
                  <a:tcPr marL="109728" marT="82296"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607C8B"/>
                          </a:solidFill>
                          <a:latin typeface="PingFang SC"/>
                        </a:defRPr>
                      </a:pPr>
                      <a:r>
                        <a:t>验收</a:t>
                      </a:r>
                    </a:p>
                  </a:txBody>
                  <a:tcPr marL="109728" marT="82296"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607C8B"/>
                          </a:solidFill>
                          <a:latin typeface="PingFang SC"/>
                        </a:defRPr>
                      </a:pPr>
                      <a:r>
                        <a:t>未通过项</a:t>
                      </a:r>
                    </a:p>
                  </a:txBody>
                  <a:tcPr marL="109728" marT="82296">
                    <a:solidFill>
                      <a:srgbClr val="E1EB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正常交付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通过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全部检查通过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装配接口越界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暂缓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assembly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默认正确、变型失效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暂缓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variants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旧网格沿用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暂缓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mesh_geometry, report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求解完成、载荷反向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暂缓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load, result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报告数值与重算失配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暂缓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63348"/>
                          </a:solidFill>
                          <a:latin typeface="PingFang SC"/>
                        </a:defRPr>
                      </a:pPr>
                      <a:r>
                        <a:t>report</a:t>
                      </a:r>
                    </a:p>
                  </a:txBody>
                  <a:tcPr marL="109728" marT="82296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43737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OSCHINA 2026 · 合成工程 / 研究原型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086F78"/>
                </a:solidFill>
                <a:latin typeface="PingFang SC"/>
              </a:defRPr>
            </a:pPr>
            <a:r>
              <a:t>工证 Lab · AI＋工业软件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3348"/>
                </a:solidFill>
                <a:latin typeface="PingFang SC"/>
              </a:defRPr>
            </a:pPr>
            <a:r>
              <a:t>两次真实模型提案的接入结果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7393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63348"/>
                </a:solidFill>
                <a:latin typeface="PingFang SC"/>
              </a:defRPr>
            </a:pPr>
            <a:r>
              <a:t>模型提案已完成原生重建与独立验收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50592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7C8B"/>
                </a:solidFill>
                <a:latin typeface="PingFang SC"/>
              </a:defRPr>
            </a:pPr>
            <a:r>
              <a:t>参数变型：删除固定孔位覆盖；装配净空：凸台 8 → 4.5 mm。两个候选均 8/8 通过。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63348"/>
                </a:solidFill>
                <a:latin typeface="PingFang SC"/>
              </a:defRPr>
            </a:pPr>
            <a:r>
              <a:t>孔位参数关系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086F78"/>
                </a:solidFill>
                <a:latin typeface="Menlo"/>
              </a:defRPr>
            </a:pPr>
            <a:r>
              <a:t>hole_y_override_mm</a:t>
            </a:r>
          </a:p>
          <a:p>
            <a:pPr>
              <a:spcAft>
                <a:spcPts val="700"/>
              </a:spcAft>
              <a:defRPr sz="2100" b="0">
                <a:solidFill>
                  <a:srgbClr val="086F78"/>
                </a:solidFill>
                <a:latin typeface="Menlo"/>
              </a:defRPr>
            </a:pPr>
            <a:r>
              <a:t>4.8 → 删除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恢复 Y = 0.2 × 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4745B"/>
                </a:solidFill>
                <a:latin typeface="PingFang SC"/>
              </a:defRPr>
            </a:pPr>
            <a:r>
              <a:t>8 / 8 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63348"/>
                </a:solidFill>
                <a:latin typeface="PingFang SC"/>
              </a:defRPr>
            </a:pPr>
            <a:r>
              <a:t>装配凸台高度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086F78"/>
                </a:solidFill>
                <a:latin typeface="Menlo"/>
              </a:defRPr>
            </a:pPr>
            <a:r>
              <a:t>boss_height_mm</a:t>
            </a:r>
          </a:p>
          <a:p>
            <a:pPr>
              <a:spcAft>
                <a:spcPts val="700"/>
              </a:spcAft>
              <a:defRPr sz="2100" b="0">
                <a:solidFill>
                  <a:srgbClr val="086F78"/>
                </a:solidFill>
                <a:latin typeface="Menlo"/>
              </a:defRPr>
            </a:pPr>
            <a:r>
              <a:t>8 → 4.5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9204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净空达到公开下限 0.5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44068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4745B"/>
                </a:solidFill>
                <a:latin typeface="PingFang SC"/>
              </a:defRPr>
            </a:pPr>
            <a:r>
              <a:t>8 / 8 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3737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OSCHINA 2026 · 合成工程 / 研究原型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086F78"/>
                </a:solidFill>
                <a:latin typeface="PingFang SC"/>
              </a:defRPr>
            </a:pPr>
            <a:r>
              <a:t>工证 Lab · AI＋工业软件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3348"/>
                </a:solidFill>
                <a:latin typeface="PingFang SC"/>
              </a:defRPr>
            </a:pPr>
            <a:r>
              <a:t>开源 CAD/CAE 工具链与隔离执行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7393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63348"/>
                </a:solidFill>
                <a:latin typeface="PingFang SC"/>
              </a:defRPr>
            </a:pPr>
            <a:r>
              <a:t>原生工件保留到验收结论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50592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7C8B"/>
                </a:solidFill>
                <a:latin typeface="PingFang SC"/>
              </a:defRPr>
            </a:pPr>
            <a:r>
              <a:t>CadQuery / Open CASCADE → STEP → Gmsh → MSH → CalculiX INP → DAT / FRD；公开契约、哈希与逐项测量可追溯。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6F78"/>
                </a:solidFill>
                <a:latin typeface="PingFang SC"/>
              </a:defRPr>
            </a:pPr>
            <a:r>
              <a:t>CadQuery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63348"/>
                </a:solidFill>
                <a:latin typeface="PingFang SC"/>
              </a:defRPr>
            </a:pPr>
            <a:r>
              <a:t>参数 →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5661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6F78"/>
                </a:solidFill>
                <a:latin typeface="PingFang SC"/>
              </a:defRPr>
            </a:pPr>
            <a:r>
              <a:t>Gmsh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2519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63348"/>
                </a:solidFill>
                <a:latin typeface="PingFang SC"/>
              </a:defRPr>
            </a:pPr>
            <a:r>
              <a:t>二阶四面体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5661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086F78"/>
                </a:solidFill>
                <a:latin typeface="PingFang SC"/>
              </a:defRPr>
            </a:pPr>
            <a:r>
              <a:t>CalculiX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2519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63348"/>
                </a:solidFill>
                <a:latin typeface="PingFang SC"/>
              </a:defRPr>
            </a:pPr>
            <a:r>
              <a:t>线弹性重算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120640"/>
            <a:ext cx="10332720" cy="13716"/>
          </a:xfrm>
          <a:prstGeom prst="rect">
            <a:avLst/>
          </a:prstGeom>
          <a:solidFill>
            <a:srgbClr val="CB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163348"/>
                </a:solidFill>
                <a:latin typeface="PingFang SC"/>
              </a:defRPr>
            </a:pPr>
            <a:r>
              <a:t>只读代码 / 单次输出目录 / 网络关闭</a:t>
            </a:r>
          </a:p>
          <a:p>
            <a:pPr>
              <a:spcAft>
                <a:spcPts val="700"/>
              </a:spcAft>
              <a:defRPr sz="1900" b="0">
                <a:solidFill>
                  <a:srgbClr val="163348"/>
                </a:solidFill>
                <a:latin typeface="PingFang SC"/>
              </a:defRPr>
            </a:pPr>
            <a:r>
              <a:t>STEP 重开 / 网格工况比对 / 报告复核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3737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OSCHINA 2026 · 合成工程 / 研究原型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086F78"/>
                </a:solidFill>
                <a:latin typeface="PingFang SC"/>
              </a:defRPr>
            </a:pPr>
            <a:r>
              <a:t>工证 Lab · AI＋工业软件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3348"/>
                </a:solidFill>
                <a:latin typeface="PingFang SC"/>
              </a:defRPr>
            </a:pPr>
            <a:r>
              <a:t>开源治理与可复现交付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7393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63348"/>
                </a:solidFill>
                <a:latin typeface="PingFang SC"/>
              </a:defRPr>
            </a:pPr>
            <a:r>
              <a:t>源码、契约、回归案例共同交付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50592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7C8B"/>
                </a:solidFill>
                <a:latin typeface="PingFang SC"/>
              </a:defRPr>
            </a:pPr>
            <a:r>
              <a:t>自有代码 Apache-2.0；第三方工具保留原许可；优先接收可重放反例与适配器贡献。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54864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Menlo"/>
              </a:defRPr>
            </a:pPr>
            <a:r>
              <a:t>gongzheng/   验收与适配器</a:t>
            </a:r>
          </a:p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Menlo"/>
              </a:defRPr>
            </a:pPr>
            <a:r>
              <a:t>web/         中文审查界面</a:t>
            </a:r>
          </a:p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Menlo"/>
              </a:defRPr>
            </a:pPr>
            <a:r>
              <a:t>examples/    六组原生工程</a:t>
            </a:r>
          </a:p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Menlo"/>
              </a:defRPr>
            </a:pPr>
            <a:r>
              <a:t>tests/       正反例与临界测试</a:t>
            </a:r>
          </a:p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Menlo"/>
              </a:defRPr>
            </a:pPr>
            <a:r>
              <a:t>docs/        契约与能力边界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33375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086F78"/>
                </a:solidFill>
                <a:latin typeface="PingFang SC"/>
              </a:defRPr>
            </a:pPr>
            <a:r>
              <a:t>贡献以可复现为入口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977639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反例 → 最小工程 → 公开契约</a:t>
            </a:r>
          </a:p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→ 原生重放 → 回归合并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530352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保留第三方许可</a:t>
            </a:r>
          </a:p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当前不分发二进制镜像。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3737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OSCHINA 2026 · 合成工程 / 研究原型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086F78"/>
                </a:solidFill>
                <a:latin typeface="PingFang SC"/>
              </a:defRPr>
            </a:pPr>
            <a:r>
              <a:t>工证 Lab · AI＋工业软件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3348"/>
                </a:solidFill>
                <a:latin typeface="PingFang SC"/>
              </a:defRPr>
            </a:pPr>
            <a:r>
              <a:t>首批用户与后续扩展计划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7393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63348"/>
                </a:solidFill>
                <a:latin typeface="PingFang SC"/>
              </a:defRPr>
            </a:pPr>
            <a:r>
              <a:t>先服务工业 Agent 研发与测试团队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50592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7C8B"/>
                </a:solidFill>
                <a:latin typeface="PingFang SC"/>
              </a:defRPr>
            </a:pPr>
            <a:r>
              <a:t>用开源工具链验证接口，再扩展原生软件适配器、CI 批量回归和团队审签。尚无真实客户部署或营收证明。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66160"/>
            <a:ext cx="2834640" cy="13716"/>
          </a:xfrm>
          <a:prstGeom prst="rect">
            <a:avLst/>
          </a:prstGeom>
          <a:solidFill>
            <a:srgbClr val="08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086F78"/>
                </a:solidFill>
                <a:latin typeface="PingFang SC"/>
              </a:defRPr>
            </a:pPr>
            <a:r>
              <a:t>当前 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3348"/>
                </a:solidFill>
                <a:latin typeface="PingFang SC"/>
              </a:defRPr>
            </a:pPr>
            <a:r>
              <a:t>单适配器闭环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28346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原生验证</a:t>
            </a:r>
          </a:p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六组回归</a:t>
            </a:r>
          </a:p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模型提案接口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3566160"/>
            <a:ext cx="2834640" cy="13716"/>
          </a:xfrm>
          <a:prstGeom prst="rect">
            <a:avLst/>
          </a:prstGeom>
          <a:solidFill>
            <a:srgbClr val="08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74903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086F78"/>
                </a:solidFill>
                <a:latin typeface="PingFang SC"/>
              </a:defRPr>
            </a:pPr>
            <a:r>
              <a:t>计划 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3434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3348"/>
                </a:solidFill>
                <a:latin typeface="PingFang SC"/>
              </a:defRPr>
            </a:pPr>
            <a:r>
              <a:t>扩展检查覆盖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937760"/>
            <a:ext cx="28346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第二类几何</a:t>
            </a:r>
          </a:p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网格拓扑检查</a:t>
            </a:r>
          </a:p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方向与量纲契约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566160"/>
            <a:ext cx="2834640" cy="13716"/>
          </a:xfrm>
          <a:prstGeom prst="rect">
            <a:avLst/>
          </a:prstGeom>
          <a:solidFill>
            <a:srgbClr val="08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749039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086F78"/>
                </a:solidFill>
                <a:latin typeface="PingFang SC"/>
              </a:defRPr>
            </a:pPr>
            <a:r>
              <a:t>后续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3434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63348"/>
                </a:solidFill>
                <a:latin typeface="PingFang SC"/>
              </a:defRPr>
            </a:pPr>
            <a:r>
              <a:t>团队回归工具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937760"/>
            <a:ext cx="28346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CI 批量运行</a:t>
            </a:r>
          </a:p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多工具适配</a:t>
            </a:r>
          </a:p>
          <a:p>
            <a:pPr>
              <a:spcAft>
                <a:spcPts val="700"/>
              </a:spcAft>
              <a:defRPr sz="1800" b="0">
                <a:solidFill>
                  <a:srgbClr val="163348"/>
                </a:solidFill>
                <a:latin typeface="PingFang SC"/>
              </a:defRPr>
            </a:pPr>
            <a:r>
              <a:t>授权工程试点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3737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OSCHINA 2026 · 合成工程 / 研究原型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086F78"/>
                </a:solidFill>
                <a:latin typeface="PingFang SC"/>
              </a:defRPr>
            </a:pPr>
            <a:r>
              <a:t>工证 Lab · AI＋工业软件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163348"/>
                </a:solidFill>
                <a:latin typeface="PingFang SC"/>
              </a:defRPr>
            </a:pPr>
            <a:r>
              <a:t>当前覆盖范围与参赛交付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7393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163348"/>
                </a:solidFill>
                <a:latin typeface="PingFang SC"/>
              </a:defRPr>
            </a:pPr>
            <a:r>
              <a:t>可运行、可重算、可审查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50592"/>
            <a:ext cx="108813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07C8B"/>
                </a:solidFill>
                <a:latin typeface="PingFang SC"/>
              </a:defRPr>
            </a:pPr>
            <a:r>
              <a:t>已交付本地产品、六组工程、模型提案接入、中文说明与真实操作视频。生产安全认证、通用 CAD 理解与完整多租户部署不在当前覆盖范围。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086F78"/>
                </a:solidFill>
                <a:latin typeface="PingFang SC"/>
              </a:defRPr>
            </a:pPr>
            <a:r>
              <a:t>已实现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PingFang SC"/>
              </a:defRPr>
            </a:pPr>
            <a:r>
              <a:t>受限参数模型与原生重算</a:t>
            </a:r>
          </a:p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PingFang SC"/>
              </a:defRPr>
            </a:pPr>
            <a:r>
              <a:t>逐项验收与缺陷回归</a:t>
            </a:r>
          </a:p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PingFang SC"/>
              </a:defRPr>
            </a:pPr>
            <a:r>
              <a:t>模型提案 JSON 接入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3375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A74D38"/>
                </a:solidFill>
                <a:latin typeface="PingFang SC"/>
              </a:defRPr>
            </a:pPr>
            <a:r>
              <a:t>尚未覆盖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PingFang SC"/>
              </a:defRPr>
            </a:pPr>
            <a:r>
              <a:t>任意 CAD 与全部物理工况</a:t>
            </a:r>
          </a:p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PingFang SC"/>
              </a:defRPr>
            </a:pPr>
            <a:r>
              <a:t>安全认证与全量网格等价</a:t>
            </a:r>
          </a:p>
          <a:p>
            <a:pPr>
              <a:spcAft>
                <a:spcPts val="700"/>
              </a:spcAft>
              <a:defRPr sz="2000" b="0">
                <a:solidFill>
                  <a:srgbClr val="163348"/>
                </a:solidFill>
                <a:latin typeface="PingFang SC"/>
              </a:defRPr>
            </a:pPr>
            <a:r>
              <a:t>公网多租户和企业部署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3737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OSCHINA 2026 · 合成工程 / 研究原型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373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7C8B"/>
                </a:solidFill>
                <a:latin typeface="PingFang SC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